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ne Cuenod" userId="0d8ec3d2-ea6f-4bb8-aa42-e329c8c8f8b9" providerId="ADAL" clId="{E195B199-936D-4B3C-A388-1D90A9B9AC86}"/>
    <pc:docChg chg="modSld">
      <pc:chgData name="Christine Cuenod" userId="0d8ec3d2-ea6f-4bb8-aa42-e329c8c8f8b9" providerId="ADAL" clId="{E195B199-936D-4B3C-A388-1D90A9B9AC86}" dt="2026-10-07T09:51:25.226" v="111" actId="20577"/>
      <pc:docMkLst>
        <pc:docMk/>
      </pc:docMkLst>
      <pc:sldChg chg="modSp mod">
        <pc:chgData name="Christine Cuenod" userId="0d8ec3d2-ea6f-4bb8-aa42-e329c8c8f8b9" providerId="ADAL" clId="{E195B199-936D-4B3C-A388-1D90A9B9AC86}" dt="2026-10-07T09:50:55.229" v="37" actId="20577"/>
        <pc:sldMkLst>
          <pc:docMk/>
          <pc:sldMk cId="0" sldId="256"/>
        </pc:sldMkLst>
        <pc:spChg chg="mod">
          <ac:chgData name="Christine Cuenod" userId="0d8ec3d2-ea6f-4bb8-aa42-e329c8c8f8b9" providerId="ADAL" clId="{E195B199-936D-4B3C-A388-1D90A9B9AC86}" dt="2026-10-07T09:50:55.229" v="37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Christine Cuenod" userId="0d8ec3d2-ea6f-4bb8-aa42-e329c8c8f8b9" providerId="ADAL" clId="{E195B199-936D-4B3C-A388-1D90A9B9AC86}" dt="2026-10-07T09:51:25.226" v="111" actId="20577"/>
        <pc:sldMkLst>
          <pc:docMk/>
          <pc:sldMk cId="0" sldId="258"/>
        </pc:sldMkLst>
        <pc:spChg chg="mod">
          <ac:chgData name="Christine Cuenod" userId="0d8ec3d2-ea6f-4bb8-aa42-e329c8c8f8b9" providerId="ADAL" clId="{E195B199-936D-4B3C-A388-1D90A9B9AC86}" dt="2026-10-07T09:51:25.226" v="111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Christine Cuenod" userId="0d8ec3d2-ea6f-4bb8-aa42-e329c8c8f8b9" providerId="ADAL" clId="{E195B199-936D-4B3C-A388-1D90A9B9AC86}" dt="2026-10-07T09:51:07.370" v="51" actId="1035"/>
          <ac:spMkLst>
            <pc:docMk/>
            <pc:sldMk cId="0" sldId="258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74371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7"/>
                </a:solidFill>
              </a:defRPr>
            </a:pPr>
            <a:r>
              <a:rPr dirty="0"/>
              <a:t>Effect of Light Intensity on Seedling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2752" y="1304654"/>
            <a:ext cx="79766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646E"/>
                </a:solidFill>
              </a:defRPr>
            </a:pPr>
            <a:r>
              <a:rPr lang="en-US" b="1" dirty="0"/>
              <a:t>Presenter name</a:t>
            </a:r>
            <a:r>
              <a:rPr lang="en-US" dirty="0"/>
              <a:t>, supervisor name, co-supervisor name. Email address of presenter. </a:t>
            </a:r>
            <a:endParaRPr b="1" dirty="0"/>
          </a:p>
        </p:txBody>
      </p:sp>
      <p:sp>
        <p:nvSpPr>
          <p:cNvPr id="4" name="Rounded Rectangle 3"/>
          <p:cNvSpPr/>
          <p:nvPr/>
        </p:nvSpPr>
        <p:spPr>
          <a:xfrm>
            <a:off x="594360" y="2005584"/>
            <a:ext cx="3474720" cy="1417320"/>
          </a:xfrm>
          <a:prstGeom prst="roundRect">
            <a:avLst/>
          </a:prstGeom>
          <a:solidFill>
            <a:srgbClr val="EBF0F2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700" b="1">
                <a:solidFill>
                  <a:srgbClr val="3C6E7D"/>
                </a:solidFill>
              </a:defRPr>
            </a:pPr>
            <a:r>
              <a:rPr dirty="0"/>
              <a:t>Aim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rPr dirty="0"/>
              <a:t>To determine whether light intensity affects early seedling growth.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2005584"/>
            <a:ext cx="3474720" cy="1417320"/>
          </a:xfrm>
          <a:prstGeom prst="roundRect">
            <a:avLst/>
          </a:prstGeom>
          <a:solidFill>
            <a:srgbClr val="EBF0F2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700" b="1">
                <a:solidFill>
                  <a:srgbClr val="3C6E7D"/>
                </a:solidFill>
              </a:defRPr>
            </a:pPr>
            <a:r>
              <a:t>Research question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Do seedlings exposed to different light levels show differences in growth?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47304" y="2005584"/>
            <a:ext cx="3429000" cy="1417320"/>
          </a:xfrm>
          <a:prstGeom prst="roundRect">
            <a:avLst/>
          </a:prstGeom>
          <a:solidFill>
            <a:srgbClr val="EBF0F2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700" b="1">
                <a:solidFill>
                  <a:srgbClr val="3C6E7D"/>
                </a:solidFill>
              </a:defRPr>
            </a:pPr>
            <a:r>
              <a:t>Hypothesis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Moderate light will produce the greatest average growth over 14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71240"/>
            <a:ext cx="106984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• Grow the same seedling species under three controlled light conditions.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• Measure shoot height every two days for 14 days.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• Compare mean growth between treatments.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9200" y="4836160"/>
            <a:ext cx="201168" cy="914400"/>
          </a:xfrm>
          <a:prstGeom prst="rect">
            <a:avLst/>
          </a:prstGeom>
          <a:solidFill>
            <a:srgbClr val="3C6E7D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14880" y="586028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55360" y="4333240"/>
            <a:ext cx="201168" cy="1417320"/>
          </a:xfrm>
          <a:prstGeom prst="rect">
            <a:avLst/>
          </a:prstGeom>
          <a:solidFill>
            <a:srgbClr val="3C6E7D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81040" y="586028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Moderate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21520" y="5064760"/>
            <a:ext cx="201168" cy="685800"/>
          </a:xfrm>
          <a:prstGeom prst="rect">
            <a:avLst/>
          </a:prstGeom>
          <a:solidFill>
            <a:srgbClr val="3C6E7D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47200" y="586028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646E"/>
                </a:solidFill>
              </a:defRPr>
            </a:pPr>
            <a: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909BE3-03F1-D498-97B9-0A5284DC63A1}"/>
              </a:ext>
            </a:extLst>
          </p:cNvPr>
          <p:cNvSpPr txBox="1"/>
          <p:nvPr/>
        </p:nvSpPr>
        <p:spPr>
          <a:xfrm>
            <a:off x="682752" y="1609344"/>
            <a:ext cx="4343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646E"/>
                </a:solidFill>
              </a:defRPr>
            </a:pPr>
            <a:r>
              <a:rPr dirty="0"/>
              <a:t>A fictional research example — all data shown are illustrative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946912"/>
            <a:ext cx="4983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2D37"/>
                </a:solidFill>
              </a:defRPr>
            </a:pPr>
            <a:r>
              <a:rPr dirty="0"/>
              <a:t>Experimental design and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450848"/>
            <a:ext cx="3868928" cy="296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646E"/>
                </a:solidFill>
              </a:defRPr>
            </a:pPr>
            <a:r>
              <a:rPr dirty="0"/>
              <a:t>Keep the method visual and the key result easy to find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3720"/>
            <a:ext cx="2834640" cy="1005840"/>
          </a:xfrm>
          <a:prstGeom prst="roundRect">
            <a:avLst/>
          </a:prstGeom>
          <a:solidFill>
            <a:srgbClr val="EBF0F2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700" b="1">
                <a:solidFill>
                  <a:srgbClr val="3C6E7D"/>
                </a:solidFill>
              </a:defRPr>
            </a:pPr>
            <a:r>
              <a:t>Treatment 1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Low light</a:t>
            </a:r>
            <a:br/>
            <a:r>
              <a:t>8 hours/day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012440"/>
            <a:ext cx="2834640" cy="1005840"/>
          </a:xfrm>
          <a:prstGeom prst="roundRect">
            <a:avLst/>
          </a:prstGeom>
          <a:solidFill>
            <a:srgbClr val="EBF0F2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700" b="1">
                <a:solidFill>
                  <a:srgbClr val="3C6E7D"/>
                </a:solidFill>
              </a:defRPr>
            </a:pPr>
            <a:r>
              <a:t>Treatment 2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Moderate light</a:t>
            </a:r>
            <a:br/>
            <a:r>
              <a:t>12 hours/day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201160"/>
            <a:ext cx="2834640" cy="1005840"/>
          </a:xfrm>
          <a:prstGeom prst="roundRect">
            <a:avLst/>
          </a:prstGeom>
          <a:solidFill>
            <a:srgbClr val="EBF0F2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700" b="1">
                <a:solidFill>
                  <a:srgbClr val="3C6E7D"/>
                </a:solidFill>
              </a:defRPr>
            </a:pPr>
            <a:r>
              <a:t>Treatment 3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High light</a:t>
            </a:r>
            <a:br/>
            <a:r>
              <a:t>16 hours/day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0" y="2326640"/>
            <a:ext cx="594359" cy="0"/>
          </a:xfrm>
          <a:prstGeom prst="line">
            <a:avLst/>
          </a:prstGeom>
          <a:ln>
            <a:solidFill>
              <a:srgbClr val="3C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83280" y="3515360"/>
            <a:ext cx="594359" cy="0"/>
          </a:xfrm>
          <a:prstGeom prst="line">
            <a:avLst/>
          </a:prstGeom>
          <a:ln>
            <a:solidFill>
              <a:srgbClr val="3C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383280" y="4704080"/>
            <a:ext cx="594359" cy="0"/>
          </a:xfrm>
          <a:prstGeom prst="line">
            <a:avLst/>
          </a:prstGeom>
          <a:ln>
            <a:solidFill>
              <a:srgbClr val="3C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69080" y="2829560"/>
            <a:ext cx="2743200" cy="1417320"/>
          </a:xfrm>
          <a:prstGeom prst="roundRect">
            <a:avLst/>
          </a:prstGeom>
          <a:solidFill>
            <a:srgbClr val="EBF0F2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700" b="1">
                <a:solidFill>
                  <a:srgbClr val="3C6E7D"/>
                </a:solidFill>
              </a:defRPr>
            </a:pPr>
            <a:r>
              <a:t>Measurements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Height recorded every 2 days</a:t>
            </a:r>
            <a:br/>
            <a:r>
              <a:t>n = 10 seedlings per treatment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234440"/>
            <a:ext cx="4251960" cy="1005840"/>
          </a:xfrm>
          <a:prstGeom prst="roundRect">
            <a:avLst/>
          </a:prstGeom>
          <a:solidFill>
            <a:srgbClr val="EBF0F2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700" b="1">
                <a:solidFill>
                  <a:srgbClr val="3C6E7D"/>
                </a:solidFill>
              </a:defRPr>
            </a:pPr>
            <a:r>
              <a:t>Mean final height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Low: 8.4 cm    Moderate: 12.1 cm    High: 10.2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514600"/>
            <a:ext cx="4251960" cy="1005840"/>
          </a:xfrm>
          <a:prstGeom prst="roundRect">
            <a:avLst/>
          </a:prstGeom>
          <a:solidFill>
            <a:srgbClr val="EBF0F2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700" b="1">
                <a:solidFill>
                  <a:srgbClr val="3C6E7D"/>
                </a:solidFill>
              </a:defRPr>
            </a:pPr>
            <a:r>
              <a:t>Mean increase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Low: +5.2 cm    Moderate: +8.9 cm    High: +7.0 cm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26198" y="4495800"/>
            <a:ext cx="594360" cy="1174361"/>
          </a:xfrm>
          <a:prstGeom prst="rect">
            <a:avLst/>
          </a:prstGeom>
          <a:solidFill>
            <a:srgbClr val="3C6E7D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4759" y="576160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4759" y="422148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8.4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52079" y="3978522"/>
            <a:ext cx="594360" cy="1691640"/>
          </a:xfrm>
          <a:prstGeom prst="rect">
            <a:avLst/>
          </a:prstGeom>
          <a:solidFill>
            <a:srgbClr val="3C6E7D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60639" y="576160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Moderate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0799" y="370420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12.1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77959" y="4244151"/>
            <a:ext cx="594360" cy="1426010"/>
          </a:xfrm>
          <a:prstGeom prst="rect">
            <a:avLst/>
          </a:prstGeom>
          <a:solidFill>
            <a:srgbClr val="3C6E7D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986519" y="576160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6519" y="3969831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10.2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646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13995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7"/>
                </a:solidFill>
              </a:defRPr>
            </a:pPr>
            <a:r>
              <a:t>What do the results tell 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725168"/>
            <a:ext cx="644195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646E"/>
                </a:solidFill>
              </a:defRPr>
            </a:pPr>
            <a:r>
              <a:rPr dirty="0"/>
              <a:t>Example of a concise conclusion slide</a:t>
            </a:r>
            <a:r>
              <a:rPr lang="en-US" dirty="0"/>
              <a:t>. Include acknowledgements and sponsors if applicable.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2118360"/>
            <a:ext cx="5303520" cy="1234440"/>
          </a:xfrm>
          <a:prstGeom prst="roundRect">
            <a:avLst/>
          </a:prstGeom>
          <a:solidFill>
            <a:srgbClr val="EBF0F2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700" b="1">
                <a:solidFill>
                  <a:srgbClr val="3C6E7D"/>
                </a:solidFill>
              </a:defRPr>
            </a:pPr>
            <a:r>
              <a:t>Key finding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Seedlings under moderate light showed the greatest mean increase in height (+8.9 cm).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118360"/>
            <a:ext cx="5303520" cy="1234440"/>
          </a:xfrm>
          <a:prstGeom prst="roundRect">
            <a:avLst/>
          </a:prstGeom>
          <a:solidFill>
            <a:srgbClr val="EBF0F2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700" b="1">
                <a:solidFill>
                  <a:srgbClr val="3C6E7D"/>
                </a:solidFill>
              </a:defRPr>
            </a:pPr>
            <a:r>
              <a:t>Interpretation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The illustrative results support the hypothesis, although variability between seedlings should also be considered.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13480"/>
            <a:ext cx="10515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• Moderate light produced the greatest average growth in this experiment.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• The pattern suggests that both insufficient and excessive light may limit growth.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rPr dirty="0"/>
              <a:t>• A larger sample and additional growth measures could strengthen the study.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5084064"/>
            <a:ext cx="8138160" cy="685800"/>
          </a:xfrm>
          <a:prstGeom prst="roundRect">
            <a:avLst/>
          </a:prstGeom>
          <a:solidFill>
            <a:srgbClr val="EBF0F2"/>
          </a:solidFill>
          <a:ln>
            <a:solidFill>
              <a:srgbClr val="3C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09728" rtlCol="0" anchor="ctr"/>
          <a:lstStyle/>
          <a:p>
            <a:pPr algn="ctr">
              <a:defRPr sz="1700" b="1">
                <a:solidFill>
                  <a:srgbClr val="3C6E7D"/>
                </a:solidFill>
              </a:defRPr>
            </a:pPr>
            <a:r>
              <a:t>Take-home message</a:t>
            </a:r>
          </a:p>
          <a:p>
            <a:pPr>
              <a:defRPr sz="1300">
                <a:solidFill>
                  <a:srgbClr val="232D37"/>
                </a:solidFill>
              </a:defRPr>
            </a:pPr>
            <a:r>
              <a:t>State the answer to the research question in one clear sentence.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646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306</Words>
  <Application>Microsoft Office PowerPoint</Application>
  <PresentationFormat>Widescreen</PresentationFormat>
  <Paragraphs>49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Christine Cuenod</cp:lastModifiedBy>
  <cp:revision>2</cp:revision>
  <dcterms:created xsi:type="dcterms:W3CDTF">2013-01-27T09:14:16Z</dcterms:created>
  <dcterms:modified xsi:type="dcterms:W3CDTF">2026-10-07T09:51:45Z</dcterms:modified>
  <cp:category/>
</cp:coreProperties>
</file>