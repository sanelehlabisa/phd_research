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Open Sans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6YenVredPFiXRwH5Qgg/aD5P5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italic.fntdata"/><Relationship Id="rId10" Type="http://schemas.openxmlformats.org/officeDocument/2006/relationships/font" Target="fonts/OpenSans-bold.fntdata"/><Relationship Id="rId13" Type="http://customschemas.google.com/relationships/presentationmetadata" Target="metadata"/><Relationship Id="rId12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Open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6dbbdf68dbd6dd2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h6dbbdf68dbd6dd28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6dbbdf68dbd6dd2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h6dbbdf68dbd6dd28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10.jpg"/><Relationship Id="rId6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9.png"/><Relationship Id="rId6" Type="http://schemas.openxmlformats.org/officeDocument/2006/relationships/hyperlink" Target="https://huggingface.co/spaces/sanelehlabisa/lightweight-convlstm-ahar" TargetMode="External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6.png"/><Relationship Id="rId6" Type="http://schemas.openxmlformats.org/officeDocument/2006/relationships/hyperlink" Target="https://huggingface.co/spaces/sanelehlabisa/lightweight-convlstm-ahar" TargetMode="External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7.png"/><Relationship Id="rId6" Type="http://schemas.openxmlformats.org/officeDocument/2006/relationships/hyperlink" Target="https://huggingface.co/spaces/sanelehlabisa/lightweight-convlstm-ahar" TargetMode="External"/><Relationship Id="rId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3678" y="6399333"/>
            <a:ext cx="7562103" cy="53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12968" l="0" r="76213" t="0"/>
          <a:stretch/>
        </p:blipFill>
        <p:spPr>
          <a:xfrm>
            <a:off x="8909702" y="6401449"/>
            <a:ext cx="3282298" cy="537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16550" l="70836" r="0" t="0"/>
          <a:stretch/>
        </p:blipFill>
        <p:spPr>
          <a:xfrm>
            <a:off x="-4233" y="6401905"/>
            <a:ext cx="3719736" cy="52873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/>
          <p:nvPr/>
        </p:nvSpPr>
        <p:spPr>
          <a:xfrm>
            <a:off x="0" y="6189785"/>
            <a:ext cx="12192000" cy="215060"/>
          </a:xfrm>
          <a:prstGeom prst="rect">
            <a:avLst/>
          </a:prstGeom>
          <a:solidFill>
            <a:srgbClr val="5C2A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625388" y="6178854"/>
            <a:ext cx="1067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pris.ukzn.ac.za</a:t>
            </a:r>
            <a:endParaRPr b="0" baseline="30000" i="0" sz="14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354450" y="6186966"/>
            <a:ext cx="156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28 &amp; 29</a:t>
            </a:r>
            <a:r>
              <a:rPr b="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baseline="3000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October 2026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4036000" y="6178386"/>
            <a:ext cx="208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Coastlands Hotel, Musgrave, Durban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6167165" y="6243786"/>
            <a:ext cx="118032" cy="1180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3866675" y="6230340"/>
            <a:ext cx="118032" cy="1180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6336217" y="6187435"/>
            <a:ext cx="318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-GB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THEME: International Year of Rangelands and Pastoralists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9552272" y="6234072"/>
            <a:ext cx="118032" cy="1180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344575" y="6186962"/>
            <a:ext cx="105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PRIS 2026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2275886" y="6234072"/>
            <a:ext cx="118032" cy="1180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7999" y="65780"/>
            <a:ext cx="9144001" cy="570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7955" y="38555"/>
            <a:ext cx="3442513" cy="4925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" name="Google Shape;99;p1"/>
          <p:cNvCxnSpPr/>
          <p:nvPr/>
        </p:nvCxnSpPr>
        <p:spPr>
          <a:xfrm>
            <a:off x="-4233" y="645615"/>
            <a:ext cx="1219623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0" name="Google Shape;100;p1"/>
          <p:cNvSpPr txBox="1"/>
          <p:nvPr/>
        </p:nvSpPr>
        <p:spPr>
          <a:xfrm>
            <a:off x="6121200" y="29458"/>
            <a:ext cx="269836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6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PRIS 2026</a:t>
            </a:r>
            <a:endParaRPr b="1" i="0" sz="3600" u="none" cap="none" strike="noStrike">
              <a:solidFill>
                <a:srgbClr val="C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1" name="Google Shape;101;p1"/>
          <p:cNvCxnSpPr/>
          <p:nvPr/>
        </p:nvCxnSpPr>
        <p:spPr>
          <a:xfrm>
            <a:off x="-4233" y="618100"/>
            <a:ext cx="3052232" cy="0"/>
          </a:xfrm>
          <a:prstGeom prst="straightConnector1">
            <a:avLst/>
          </a:prstGeom>
          <a:noFill/>
          <a:ln cap="flat" cmpd="sng" w="28575">
            <a:solidFill>
              <a:srgbClr val="7C102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2" name="Google Shape;102;p1"/>
          <p:cNvSpPr txBox="1"/>
          <p:nvPr/>
        </p:nvSpPr>
        <p:spPr>
          <a:xfrm>
            <a:off x="-2100" y="4350275"/>
            <a:ext cx="121962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Lightweight ConvLSTM Architecture for Abnormal Human</a:t>
            </a:r>
            <a:endParaRPr b="1"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Activity Recognition in Surveillance Videos</a:t>
            </a:r>
            <a:endParaRPr b="1"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-4212" y="5499048"/>
            <a:ext cx="12196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By Sanele Hlabisa &amp; Prof. Jules-Raymond Tapamo</a:t>
            </a:r>
            <a:endParaRPr i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4" name="Google Shape;104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19361" y="1010774"/>
            <a:ext cx="10013640" cy="333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8706" y="137565"/>
            <a:ext cx="5976151" cy="855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09" y="5238954"/>
            <a:ext cx="12191998" cy="159979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 txBox="1"/>
          <p:nvPr/>
        </p:nvSpPr>
        <p:spPr>
          <a:xfrm>
            <a:off x="9738609" y="6048251"/>
            <a:ext cx="1067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pris.ukzn.ac.za</a:t>
            </a:r>
            <a:endParaRPr b="0" baseline="30000" i="0" sz="14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2356513" y="6063818"/>
            <a:ext cx="156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28 &amp; 29</a:t>
            </a:r>
            <a:r>
              <a:rPr b="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baseline="3000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October 2026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4038062" y="6049801"/>
            <a:ext cx="208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Coastlands Hotel, Musgrave, Durban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6169226" y="6114516"/>
            <a:ext cx="118032" cy="1180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3868736" y="6105297"/>
            <a:ext cx="118032" cy="1180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6169227" y="6056832"/>
            <a:ext cx="356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-GB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THEME: International Year of Rangelands and Pastoralists</a:t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9554333" y="6104794"/>
            <a:ext cx="118032" cy="1180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1346637" y="6051967"/>
            <a:ext cx="105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PRIS 2026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2277947" y="6108229"/>
            <a:ext cx="118032" cy="1180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203100" y="992675"/>
            <a:ext cx="11785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Why This Problem Matters</a:t>
            </a:r>
            <a:endParaRPr b="1"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1" name="Google Shape;121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5900" y="1638875"/>
            <a:ext cx="5592999" cy="31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"/>
          <p:cNvSpPr txBox="1"/>
          <p:nvPr/>
        </p:nvSpPr>
        <p:spPr>
          <a:xfrm>
            <a:off x="203100" y="1638875"/>
            <a:ext cx="11785800" cy="44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</a:t>
            </a: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Statement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Cameras record more than people can monitor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Fatigue and divided attention can lead to missed events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creates a need for automated activity recognition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approaches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3D CNN: Learns appearance and motion, but is often large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ViT: Captures long-range patterns, but is compute-intensive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ConvLSTM: Combines spatial features with temporal memory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question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i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a compact ConvLSTM maintain strong recognition performance with fewer parameters?</a:t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2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53125" y="0"/>
            <a:ext cx="1638874" cy="163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h6dbbdf68dbd6dd28_0_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8706" y="137565"/>
            <a:ext cx="5976151" cy="855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h6dbbdf68dbd6dd28_0_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09" y="5238954"/>
            <a:ext cx="12191998" cy="159979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h6dbbdf68dbd6dd28_0_67"/>
          <p:cNvSpPr txBox="1"/>
          <p:nvPr/>
        </p:nvSpPr>
        <p:spPr>
          <a:xfrm>
            <a:off x="9738609" y="6048251"/>
            <a:ext cx="1067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pris.ukzn.ac.za</a:t>
            </a:r>
            <a:endParaRPr b="0" baseline="30000" i="0" sz="14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h6dbbdf68dbd6dd28_0_67"/>
          <p:cNvSpPr txBox="1"/>
          <p:nvPr/>
        </p:nvSpPr>
        <p:spPr>
          <a:xfrm>
            <a:off x="2356513" y="6063818"/>
            <a:ext cx="156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28 &amp; 29</a:t>
            </a:r>
            <a:r>
              <a:rPr b="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baseline="3000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October 2026</a:t>
            </a:r>
            <a:endParaRPr/>
          </a:p>
        </p:txBody>
      </p:sp>
      <p:sp>
        <p:nvSpPr>
          <p:cNvPr id="132" name="Google Shape;132;h6dbbdf68dbd6dd28_0_67"/>
          <p:cNvSpPr txBox="1"/>
          <p:nvPr/>
        </p:nvSpPr>
        <p:spPr>
          <a:xfrm>
            <a:off x="4038062" y="6049801"/>
            <a:ext cx="208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Coastlands Hotel, Musgrave, Durban</a:t>
            </a:r>
            <a:endParaRPr/>
          </a:p>
        </p:txBody>
      </p:sp>
      <p:sp>
        <p:nvSpPr>
          <p:cNvPr id="133" name="Google Shape;133;h6dbbdf68dbd6dd28_0_67"/>
          <p:cNvSpPr/>
          <p:nvPr/>
        </p:nvSpPr>
        <p:spPr>
          <a:xfrm>
            <a:off x="6169226" y="6114516"/>
            <a:ext cx="117900" cy="1179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h6dbbdf68dbd6dd28_0_67"/>
          <p:cNvSpPr/>
          <p:nvPr/>
        </p:nvSpPr>
        <p:spPr>
          <a:xfrm>
            <a:off x="3868736" y="6105297"/>
            <a:ext cx="117900" cy="1179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h6dbbdf68dbd6dd28_0_67"/>
          <p:cNvSpPr txBox="1"/>
          <p:nvPr/>
        </p:nvSpPr>
        <p:spPr>
          <a:xfrm>
            <a:off x="6169227" y="6056832"/>
            <a:ext cx="356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-GB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THEME: International Year of Rangelands and Pastoralists</a:t>
            </a:r>
            <a:endParaRPr/>
          </a:p>
        </p:txBody>
      </p:sp>
      <p:sp>
        <p:nvSpPr>
          <p:cNvPr id="136" name="Google Shape;136;h6dbbdf68dbd6dd28_0_67"/>
          <p:cNvSpPr/>
          <p:nvPr/>
        </p:nvSpPr>
        <p:spPr>
          <a:xfrm>
            <a:off x="9554333" y="6104794"/>
            <a:ext cx="117900" cy="1179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h6dbbdf68dbd6dd28_0_67"/>
          <p:cNvSpPr txBox="1"/>
          <p:nvPr/>
        </p:nvSpPr>
        <p:spPr>
          <a:xfrm>
            <a:off x="1346637" y="6051967"/>
            <a:ext cx="105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PRIS 2026</a:t>
            </a:r>
            <a:endParaRPr/>
          </a:p>
        </p:txBody>
      </p:sp>
      <p:sp>
        <p:nvSpPr>
          <p:cNvPr id="138" name="Google Shape;138;h6dbbdf68dbd6dd28_0_67"/>
          <p:cNvSpPr/>
          <p:nvPr/>
        </p:nvSpPr>
        <p:spPr>
          <a:xfrm>
            <a:off x="2277947" y="6108229"/>
            <a:ext cx="117900" cy="1179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h6dbbdf68dbd6dd28_0_67"/>
          <p:cNvSpPr txBox="1"/>
          <p:nvPr/>
        </p:nvSpPr>
        <p:spPr>
          <a:xfrm>
            <a:off x="203100" y="992675"/>
            <a:ext cx="11785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Proposed Solution and Architecture Search</a:t>
            </a:r>
            <a:endParaRPr b="1"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h6dbbdf68dbd6dd28_0_67"/>
          <p:cNvSpPr txBox="1"/>
          <p:nvPr/>
        </p:nvSpPr>
        <p:spPr>
          <a:xfrm>
            <a:off x="203100" y="1638875"/>
            <a:ext cx="11785800" cy="44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Configurable Architecture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Flat: ConvLSTM[8,8,8]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Expanding: ConvLSTM[4,8,16]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Contracting: ConvLSTM[16,8,4]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Abnormal Activities Dataset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1,069 video clips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 activity classes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Controlled Search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 architectures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temporal settings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128 search runs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h6dbbdf68dbd6dd28_0_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2000" y="1638875"/>
            <a:ext cx="6839997" cy="432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h6dbbdf68dbd6dd28_0_67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53125" y="0"/>
            <a:ext cx="1638874" cy="163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h6dbbdf68dbd6dd28_0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8706" y="137565"/>
            <a:ext cx="5976151" cy="855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h6dbbdf68dbd6dd28_0_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09" y="5238954"/>
            <a:ext cx="12191998" cy="159979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h6dbbdf68dbd6dd28_0_51"/>
          <p:cNvSpPr txBox="1"/>
          <p:nvPr/>
        </p:nvSpPr>
        <p:spPr>
          <a:xfrm>
            <a:off x="9738609" y="6048251"/>
            <a:ext cx="1067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pris.ukzn.ac.za</a:t>
            </a:r>
            <a:endParaRPr b="0" baseline="30000" i="0" sz="14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h6dbbdf68dbd6dd28_0_51"/>
          <p:cNvSpPr txBox="1"/>
          <p:nvPr/>
        </p:nvSpPr>
        <p:spPr>
          <a:xfrm>
            <a:off x="2356513" y="6063818"/>
            <a:ext cx="156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28 &amp; 29</a:t>
            </a:r>
            <a:r>
              <a:rPr b="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baseline="3000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October 2026</a:t>
            </a:r>
            <a:endParaRPr/>
          </a:p>
        </p:txBody>
      </p:sp>
      <p:sp>
        <p:nvSpPr>
          <p:cNvPr id="151" name="Google Shape;151;h6dbbdf68dbd6dd28_0_51"/>
          <p:cNvSpPr txBox="1"/>
          <p:nvPr/>
        </p:nvSpPr>
        <p:spPr>
          <a:xfrm>
            <a:off x="4038062" y="6049801"/>
            <a:ext cx="208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Coastlands Hotel, Musgrave, Durban</a:t>
            </a:r>
            <a:endParaRPr/>
          </a:p>
        </p:txBody>
      </p:sp>
      <p:sp>
        <p:nvSpPr>
          <p:cNvPr id="152" name="Google Shape;152;h6dbbdf68dbd6dd28_0_51"/>
          <p:cNvSpPr/>
          <p:nvPr/>
        </p:nvSpPr>
        <p:spPr>
          <a:xfrm>
            <a:off x="6169226" y="6114516"/>
            <a:ext cx="117900" cy="1179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h6dbbdf68dbd6dd28_0_51"/>
          <p:cNvSpPr/>
          <p:nvPr/>
        </p:nvSpPr>
        <p:spPr>
          <a:xfrm>
            <a:off x="3868736" y="6105297"/>
            <a:ext cx="117900" cy="1179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h6dbbdf68dbd6dd28_0_51"/>
          <p:cNvSpPr txBox="1"/>
          <p:nvPr/>
        </p:nvSpPr>
        <p:spPr>
          <a:xfrm>
            <a:off x="6169227" y="6056832"/>
            <a:ext cx="356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-GB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THEME: International Year of Rangelands and Pastoralists</a:t>
            </a:r>
            <a:endParaRPr/>
          </a:p>
        </p:txBody>
      </p:sp>
      <p:sp>
        <p:nvSpPr>
          <p:cNvPr id="155" name="Google Shape;155;h6dbbdf68dbd6dd28_0_51"/>
          <p:cNvSpPr/>
          <p:nvPr/>
        </p:nvSpPr>
        <p:spPr>
          <a:xfrm>
            <a:off x="9554333" y="6104794"/>
            <a:ext cx="117900" cy="1179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h6dbbdf68dbd6dd28_0_51"/>
          <p:cNvSpPr txBox="1"/>
          <p:nvPr/>
        </p:nvSpPr>
        <p:spPr>
          <a:xfrm>
            <a:off x="1346637" y="6051967"/>
            <a:ext cx="105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-GB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PRIS 2026</a:t>
            </a:r>
            <a:endParaRPr/>
          </a:p>
        </p:txBody>
      </p:sp>
      <p:sp>
        <p:nvSpPr>
          <p:cNvPr id="157" name="Google Shape;157;h6dbbdf68dbd6dd28_0_51"/>
          <p:cNvSpPr/>
          <p:nvPr/>
        </p:nvSpPr>
        <p:spPr>
          <a:xfrm>
            <a:off x="2277947" y="6108229"/>
            <a:ext cx="117900" cy="1179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h6dbbdf68dbd6dd28_0_51"/>
          <p:cNvSpPr txBox="1"/>
          <p:nvPr/>
        </p:nvSpPr>
        <p:spPr>
          <a:xfrm>
            <a:off x="203100" y="992675"/>
            <a:ext cx="11785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Comparison and Future Work</a:t>
            </a:r>
            <a:endParaRPr b="1"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h6dbbdf68dbd6dd28_0_51"/>
          <p:cNvSpPr txBox="1"/>
          <p:nvPr/>
        </p:nvSpPr>
        <p:spPr>
          <a:xfrm>
            <a:off x="203100" y="1638875"/>
            <a:ext cx="11785800" cy="44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comparison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Six ConvLSTM models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3D CNNs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ViTs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Result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99.38% accuracy, 1.34M params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Gradio application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Multi-label recognition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 overlapping windows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h6dbbdf68dbd6dd28_0_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2000" y="1638875"/>
            <a:ext cx="6839997" cy="432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h6dbbdf68dbd6dd28_0_51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53125" y="0"/>
            <a:ext cx="1638874" cy="163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2021-11-11T07:37:02Z</dcterms:created>
  <dc:creator>Asokaran Rajh</dc:creator>
</cp:coreProperties>
</file>